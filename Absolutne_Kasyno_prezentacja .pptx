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3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6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Text 1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" name="Text 3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PROJEKTOWANIE SYSTEMÓW INFORMATYCZNYCH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</a:rPr>
              <a:t>ABSOLUTNE KASYNO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Obiektowy projekt systemu informatycznego w notacji UML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63240" y="3337560"/>
            <a:ext cx="608076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3291840" y="363931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Zespół projektowy: Jakub Zyga, Adam Wójciak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96849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System zarządzania siecią stacjonarnych kasyn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UML • RBD • UI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Dziedzina i cel projektu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1 — ANALIZA BIZNESOWA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◆ Dziedzina: sieć stacjonarnych kasyn oferująca gry stołowe, automaty i gry losowe.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◆ System obejmuje rejestrację gracza, wymianę żetonów, rezerwacje, przebieg gier i wypłaty.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◆ Uwzględniono zarządzanie wyposażeniem, zgłoszenia serwisowe i rozliczenia podatkowe.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4983480" cy="3108960"/>
          </a:xfrm>
          <a:prstGeom prst="roundRect">
            <a:avLst>
              <a:gd name="adj" fmla="val 2353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0" name="Text 8"/>
          <p:cNvSpPr/>
          <p:nvPr/>
        </p:nvSpPr>
        <p:spPr>
          <a:xfrm>
            <a:off x="6547104" y="16276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76872" y="16367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Cel systemu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65392" y="2084832"/>
            <a:ext cx="465429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Usprawnienie realizacji procesów biznesowych w sieci kasyn: obsługi graczy, ewidencji transakcji, kontroli przebiegu gry, zarządzania sprzętem oraz raportowania finansowego dla KAS.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CEL I KONTEKST SYSTEMU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Procesy biznesowe i aktorzy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MODELOWANIE BIZNESOWE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923544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53312" y="1591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Obsługa gracza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41832" y="2039112"/>
            <a:ext cx="30998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CBD5E1"/>
                </a:solidFill>
              </a:rPr>
              <a:t>Rejestracja i weryfikacja gracza, wydanie karty identyfikacyjnej oraz rezerwacja miejsca przy stole.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3" name="Text 11"/>
          <p:cNvSpPr/>
          <p:nvPr/>
        </p:nvSpPr>
        <p:spPr>
          <a:xfrm>
            <a:off x="4535424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1591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Finanse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2039112"/>
            <a:ext cx="30998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CBD5E1"/>
                </a:solidFill>
              </a:rPr>
              <a:t>Wymiana gotówki lub płatności kartą na żetony oraz wypłata środków po zakończeniu gry.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800100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7" name="Text 15"/>
          <p:cNvSpPr/>
          <p:nvPr/>
        </p:nvSpPr>
        <p:spPr>
          <a:xfrm>
            <a:off x="8147304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7072" y="1591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Przebieg gry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65592" y="2039112"/>
            <a:ext cx="30998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CBD5E1"/>
                </a:solidFill>
              </a:rPr>
              <a:t>Prowadzenie sesji przez krupiera, wprowadzenie wyniku i aktualizacja salda gracza.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7772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1" name="Text 19"/>
          <p:cNvSpPr/>
          <p:nvPr/>
        </p:nvSpPr>
        <p:spPr>
          <a:xfrm>
            <a:off x="923544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36941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Serwis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1832" y="4142232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Zgłoszenia awarii sprzętu lub oprogramowania do zewnętrznych dostawców.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5" name="Text 23"/>
          <p:cNvSpPr/>
          <p:nvPr/>
        </p:nvSpPr>
        <p:spPr>
          <a:xfrm>
            <a:off x="4535424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65192" y="36941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Raportowanie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53712" y="4142232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Raporty finansowe i rozliczenia podatkowe przygotowywane przez księgowego.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0100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9" name="Text 27"/>
          <p:cNvSpPr/>
          <p:nvPr/>
        </p:nvSpPr>
        <p:spPr>
          <a:xfrm>
            <a:off x="8147304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77072" y="36941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Bezpieczeństwo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65592" y="4142232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Administrator zarządza kontami, rolami, konfiguracją i uprawnieniami.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AKTORZY I PROCESY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Wymagania funkcjonalne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2 — ANALIZA WYMAGAŃ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652760" cy="1143000"/>
          </a:xfrm>
          <a:prstGeom prst="roundRect">
            <a:avLst>
              <a:gd name="adj" fmla="val 6400"/>
            </a:avLst>
          </a:prstGeom>
          <a:solidFill>
            <a:srgbClr val="0B0F1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hierarchia_funkc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643" y="1307592"/>
            <a:ext cx="8723954" cy="9966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743200"/>
            <a:ext cx="10149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◆ Rejestracja gracza, weryfikacja KYC/AML i wydanie karty identyfikacyjnej.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◆ Wymiana żetonów w recepcji albo w automacie samoobsługowym.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◆ Rezerwacja miejsca przy stole i obsługa sesji gry przez krupiera.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◆ Raportowanie finansowe, zgłoszenia serwisowe i zarządzanie kontami użytkowników.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FUNKCJE I PRZYPADKI UŻYCIA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scenariusze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3 — ANALIZA FUNKCJONALNA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31546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850392" y="1435608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</a:rPr>
              <a:t>Przypadek użycia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31920" y="1325880"/>
            <a:ext cx="21488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1" name="Text 9"/>
          <p:cNvSpPr/>
          <p:nvPr/>
        </p:nvSpPr>
        <p:spPr>
          <a:xfrm>
            <a:off x="4005072" y="1435608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</a:rPr>
              <a:t>Aktor główny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5349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3" name="Text 11"/>
          <p:cNvSpPr/>
          <p:nvPr/>
        </p:nvSpPr>
        <p:spPr>
          <a:xfrm>
            <a:off x="6153912" y="1435608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</a:rPr>
              <a:t>Rezultat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1984248"/>
            <a:ext cx="3154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5" name="Text 13"/>
          <p:cNvSpPr/>
          <p:nvPr/>
        </p:nvSpPr>
        <p:spPr>
          <a:xfrm>
            <a:off x="850392" y="2093976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</a:rPr>
              <a:t>Rejestracja gracza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1984248"/>
            <a:ext cx="21488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7" name="Text 15"/>
          <p:cNvSpPr/>
          <p:nvPr/>
        </p:nvSpPr>
        <p:spPr>
          <a:xfrm>
            <a:off x="4005072" y="2093976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Pracownik recepcji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984248"/>
            <a:ext cx="53492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9" name="Text 17"/>
          <p:cNvSpPr/>
          <p:nvPr/>
        </p:nvSpPr>
        <p:spPr>
          <a:xfrm>
            <a:off x="6153912" y="2093976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Profil gracza, weryfikacja i aktywacja karty.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2642616"/>
            <a:ext cx="315468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1" name="Text 19"/>
          <p:cNvSpPr/>
          <p:nvPr/>
        </p:nvSpPr>
        <p:spPr>
          <a:xfrm>
            <a:off x="850392" y="2752344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</a:rPr>
              <a:t>Wymiana żetonów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31920" y="2642616"/>
            <a:ext cx="214884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3" name="Text 21"/>
          <p:cNvSpPr/>
          <p:nvPr/>
        </p:nvSpPr>
        <p:spPr>
          <a:xfrm>
            <a:off x="4005072" y="2752344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Recepcja / Automat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2642616"/>
            <a:ext cx="534924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5" name="Text 23"/>
          <p:cNvSpPr/>
          <p:nvPr/>
        </p:nvSpPr>
        <p:spPr>
          <a:xfrm>
            <a:off x="6153912" y="2752344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Aktualizacja salda, zapis transakcji i potwierdzenie.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3300984"/>
            <a:ext cx="3154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7" name="Text 25"/>
          <p:cNvSpPr/>
          <p:nvPr/>
        </p:nvSpPr>
        <p:spPr>
          <a:xfrm>
            <a:off x="850392" y="3410712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</a:rPr>
              <a:t>Wprowadzenie wyniku gry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31920" y="3300984"/>
            <a:ext cx="21488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9" name="Text 27"/>
          <p:cNvSpPr/>
          <p:nvPr/>
        </p:nvSpPr>
        <p:spPr>
          <a:xfrm>
            <a:off x="4005072" y="341071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Krupier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3300984"/>
            <a:ext cx="53492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1" name="Text 29"/>
          <p:cNvSpPr/>
          <p:nvPr/>
        </p:nvSpPr>
        <p:spPr>
          <a:xfrm>
            <a:off x="6153912" y="3410712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Zapis wyniku i rozliczenie uczestników.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3959352"/>
            <a:ext cx="315468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3" name="Text 31"/>
          <p:cNvSpPr/>
          <p:nvPr/>
        </p:nvSpPr>
        <p:spPr>
          <a:xfrm>
            <a:off x="850392" y="4069080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</a:rPr>
              <a:t>Zgłoszenie awarii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931920" y="3959352"/>
            <a:ext cx="214884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5" name="Text 33"/>
          <p:cNvSpPr/>
          <p:nvPr/>
        </p:nvSpPr>
        <p:spPr>
          <a:xfrm>
            <a:off x="4005072" y="4069080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Pracownik kasyna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80760" y="3959352"/>
            <a:ext cx="5349240" cy="658368"/>
          </a:xfrm>
          <a:prstGeom prst="rect">
            <a:avLst/>
          </a:prstGeom>
          <a:solidFill>
            <a:srgbClr val="151F3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7" name="Text 35"/>
          <p:cNvSpPr/>
          <p:nvPr/>
        </p:nvSpPr>
        <p:spPr>
          <a:xfrm>
            <a:off x="6153912" y="4069080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Klasyfikacja awarii i przekazanie do dostawcy.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7240" y="4617720"/>
            <a:ext cx="3154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9" name="Text 37"/>
          <p:cNvSpPr/>
          <p:nvPr/>
        </p:nvSpPr>
        <p:spPr>
          <a:xfrm>
            <a:off x="850392" y="4727448"/>
            <a:ext cx="3008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</a:rPr>
              <a:t>Zarządzanie kontami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931920" y="4617720"/>
            <a:ext cx="21488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1" name="Text 39"/>
          <p:cNvSpPr/>
          <p:nvPr/>
        </p:nvSpPr>
        <p:spPr>
          <a:xfrm>
            <a:off x="4005072" y="4727448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Administrator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80760" y="4617720"/>
            <a:ext cx="534924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3" name="Text 41"/>
          <p:cNvSpPr/>
          <p:nvPr/>
        </p:nvSpPr>
        <p:spPr>
          <a:xfrm>
            <a:off x="6153912" y="4727448"/>
            <a:ext cx="5202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Nadanie ról, modyfikacja kont i zapis zdarzeń.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SCENARIUSZE PRZYPADKÓW UŻYCIA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analityczny — BCE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4 — MODELOWANIE ANALITYCZNE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</a:rPr>
              <a:t>◆ Boundary: terminal krupiera, formularz rejestracji, interfejs wymiany, API dostawców.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</a:rPr>
              <a:t>◆ Control: walidacja wyniku, proces transakcyjny, obsługa rejestracji, kategoryzacja błędu.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</a:rPr>
              <a:t>◆ Entity: sesja gry, portfel/konto gracza, rejestr finansowy, profil gracza, rejestr zgłoszeń.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10" name="Image 0" descr="/mnt/data/final_images/spr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788078"/>
            <a:ext cx="5157216" cy="18188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89320" y="43434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2" name="Text 9"/>
          <p:cNvSpPr/>
          <p:nvPr/>
        </p:nvSpPr>
        <p:spPr>
          <a:xfrm>
            <a:off x="6135624" y="4507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↔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65392" y="4517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Reguła komunikacji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153912" y="4965192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Aktor komunikuje się z klasą graniczną, a logika procesu jest realizowana przez klasę sterującą, która korzysta z danych encji.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BOUNDARY • CONTROL • ENTITY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klas — użytkownicy i role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5 — MODELOWANIE DANYCH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fragments/class_user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58476"/>
            <a:ext cx="5522976" cy="298676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20840" y="132588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1" name="Text 8"/>
          <p:cNvSpPr/>
          <p:nvPr/>
        </p:nvSpPr>
        <p:spPr>
          <a:xfrm>
            <a:off x="6867144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👥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96912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Co pokazuje fragment?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85432" y="1947672"/>
            <a:ext cx="4151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Generalizację Użytkownika oraz osobną klasę Administrator, zgodnie z wcześniejszym podziałem aktorów.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6812280" y="306324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◆ Gracz, PracownikKasyna i Księgowy korzystają z systemu jako użytkownicy.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◆ PracownikKasyna specjalizuje się dalej na Krupiera i PracownikaRecepcji.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◆ Administrator zarządza kontami, ale nie jest pokazany jako podtyp Użytkownika.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ZAMIAST PEŁNEGO DIAGRAMU — CZYTELNY FRAGMENT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klas — wymiana żetonów i rezerwacje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5 — MODELOWANIE DANYCH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6675120" cy="4800600"/>
          </a:xfrm>
          <a:prstGeom prst="roundRect">
            <a:avLst>
              <a:gd name="adj" fmla="val 1524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fragments/class_obsluga_gracza_transakc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95" y="1216152"/>
            <a:ext cx="5463489" cy="46542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3258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1" name="Text 8"/>
          <p:cNvSpPr/>
          <p:nvPr/>
        </p:nvSpPr>
        <p:spPr>
          <a:xfrm>
            <a:off x="7781544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💳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11312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Najważniejszy przepływ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99832" y="1947672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Gracz posiada kartę i portfel żetonów, dokonuje rezerwacji oraz ma przypisane transakcje wymiany.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2834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Transakcja może być realizowana przez pracownika recepcji albo automat.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Operator kart płatniczych autoryzuje płatności bezgotówkowe.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Potwierdzenie płatności jest generowane po zaakceptowaniu transakcji.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FRAGMENT NAJBARDZIEJ ZWIĄZANY Z PRZYPADKIEM UŻYCIA „WYMIANA ŻETONÓW”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klas — gry, sprzęt i serwis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5 — MODELOWANIE DANYCH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6583680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fragments/class_gra_serw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17701"/>
            <a:ext cx="6437376" cy="400547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32588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1" name="Text 8"/>
          <p:cNvSpPr/>
          <p:nvPr/>
        </p:nvSpPr>
        <p:spPr>
          <a:xfrm>
            <a:off x="7781544" y="1490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🎲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11312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Obsługa stołu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99832" y="1947672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Gra jest rozgrywana w sesji, sesja jest powiązana ze stołem, a krupier prowadzi rozgrywkę.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28803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Zgłoszenie serwisowe dotyczy sprzętu kasyna i jest przekazywane do dostawcy.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Dostawca ma dwie specjalizacje: sprzętu oraz oprogramowania.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◆ Sprzęt obejmuje m.in. stoły do gry i automaty samoobsługowe.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FRAGMENT SERWISOWY I OPERACYJNY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obiektów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5 — MODELOWANIE DANYCH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Przykładowa sytuacja: Jan Kowalski kupuje żetony w recepcji, płatność autoryzuje operator kart, a następnie gracz posiada aktywną rezerwację przy stole ruletki.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0835640" cy="406908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10" name="Image 0" descr="/mnt/data/final_images/spr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7" y="1901952"/>
            <a:ext cx="7762225" cy="3922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STAN SYSTEMU W KONKRETNYM MOMENCIE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danych — gracz i transakcje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6 — PROJEKTOWANIE DANYCH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10927080" cy="269748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fragments/db_gracz_transakc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95" y="1216152"/>
            <a:ext cx="10683050" cy="25511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42519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1" name="Text 8"/>
          <p:cNvSpPr/>
          <p:nvPr/>
        </p:nvSpPr>
        <p:spPr>
          <a:xfrm>
            <a:off x="1014984" y="4416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👤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44752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Użytkownicy i gracz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33272" y="4873752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</a:rPr>
              <a:t>Tabela Uzytkownicy przechowuje dane wspólne, a Gracze dane specyficzne dla klienta kasyna.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4480560" y="42519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5" name="Text 12"/>
          <p:cNvSpPr/>
          <p:nvPr/>
        </p:nvSpPr>
        <p:spPr>
          <a:xfrm>
            <a:off x="4626864" y="4416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🎫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56632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Karta i portfel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645152" y="4873752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</a:rPr>
              <a:t>KartyIdentyfikacyjne i PortfeleZetonow są powiązane z konkretnym graczem.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8092440" y="42519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9" name="Text 16"/>
          <p:cNvSpPr/>
          <p:nvPr/>
        </p:nvSpPr>
        <p:spPr>
          <a:xfrm>
            <a:off x="8238744" y="4416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💳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668512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Transakcje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257032" y="4873752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</a:rPr>
              <a:t>TransakcjeWymiany łączą gracza, recepcję/automat, operatora i potwierdzenie płatności.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CZYTELNY FRAGMENT MODELU RBD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danych — sesje, wyniki i raporty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6 — PROJEKTOWANIE DANYCH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fragments/db_sesje_wyni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76284"/>
            <a:ext cx="5248656" cy="21108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1430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11" name="Image 1" descr="/mnt/data/fragments/db_serwis_rapor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842440"/>
            <a:ext cx="5065776" cy="308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EFF9A"/>
                </a:solidFill>
              </a:rPr>
              <a:t>Fragment: sesje gry i wyniki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68680" y="4069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CBD5E1"/>
                </a:solidFill>
              </a:rPr>
              <a:t>◆ SesjeGry łączą grę, stół i krupiera.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BD5E1"/>
                </a:solidFill>
              </a:rPr>
              <a:t>◆ WynikiGry zapisują kwotę wygranej dla gracza.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649224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EFF9A"/>
                </a:solidFill>
              </a:rPr>
              <a:t>Fragment: serwis, dostawcy i raportowanie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CZYTELNY FRAGMENT MODELU RBD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Projekty interfejsu użytkownika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ROZDZIAŁ 7 — PROJEKTOWANIE UI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0B0F1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9" name="Image 0" descr="/mnt/data/2140c18b-4954-44d8-9ea1-4e9cafffb3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617908"/>
            <a:ext cx="3374136" cy="27535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43400" y="12344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0B0F1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11" name="Image 1" descr="/mnt/data/3df4baf7-a6ac-4e88-9689-a3489ffcc7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354847"/>
            <a:ext cx="3374136" cy="12796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01000" y="12344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0B0F1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13" name="Image 2" descr="/mnt/data/d5659d34-495c-4ee8-88e7-3611e23e17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50016"/>
            <a:ext cx="3374136" cy="22892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4919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Terminal: zakup żetonów / wymiana na PLN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343400" y="4919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Panel krupiera: obsługa stołu i zgłoszenie awarii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01000" y="4919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Rejestracja gracza: dane osobowe i procedury AML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MAKIETY EKRANÓW SYSTEMU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685800" y="512064"/>
            <a:ext cx="64008" cy="429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Jakość i ograniczenia systemu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WYMAGANIA NIEFUNKCJONALNE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923544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53312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Dostępność 24/7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41832" y="2039112"/>
            <a:ext cx="305409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System powinien być dostępny stale, ponieważ kasyno i automaty samoobsługowe działają w trybie ciągłym.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3" name="Text 11"/>
          <p:cNvSpPr/>
          <p:nvPr/>
        </p:nvSpPr>
        <p:spPr>
          <a:xfrm>
            <a:off x="455371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Wydajność operacji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039112"/>
            <a:ext cx="305409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Autoryzacja płatności ma trwać poniżej 3 sekund, a aktualizacja salda po grze poniżej 2 sekund.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37576" y="14173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7" name="Text 15"/>
          <p:cNvSpPr/>
          <p:nvPr/>
        </p:nvSpPr>
        <p:spPr>
          <a:xfrm>
            <a:off x="8183880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13648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Zgodność prawna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02168" y="2039112"/>
            <a:ext cx="305409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Projekt uwzględnia RODO, AML, ustawę o grach hazardowych oraz rozliczenia podatkowe z KAS.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828800" y="4069080"/>
            <a:ext cx="85039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1" name="Text 19"/>
          <p:cNvSpPr/>
          <p:nvPr/>
        </p:nvSpPr>
        <p:spPr>
          <a:xfrm>
            <a:off x="1975104" y="42336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04872" y="4242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EFF9A"/>
                </a:solidFill>
              </a:rPr>
              <a:t>Ograniczenia techniczne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993392" y="4690872"/>
            <a:ext cx="8174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Szyfrowanie komunikacji, kontrola uprawnień, obsługa urządzeń certyfikowanych oraz integracja z operatorem kart płatniczych.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BEZPIECZEŃSTWO I NIEZAWODNOŚĆ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Text 1"/>
          <p:cNvSpPr/>
          <p:nvPr/>
        </p:nvSpPr>
        <p:spPr>
          <a:xfrm>
            <a:off x="10808208" y="475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6272784"/>
            <a:ext cx="10835640" cy="0"/>
          </a:xfrm>
          <a:prstGeom prst="line">
            <a:avLst/>
          </a:prstGeom>
          <a:noFill/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" name="Text 3"/>
          <p:cNvSpPr/>
          <p:nvPr/>
        </p:nvSpPr>
        <p:spPr>
          <a:xfrm>
            <a:off x="685800" y="6419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PODSUMOWANIE PROJEKTU PSI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DZIĘKUJEMY ZA UWAGĘ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057400" y="3032459"/>
            <a:ext cx="8092440" cy="1188720"/>
          </a:xfrm>
          <a:prstGeom prst="roundRect">
            <a:avLst>
              <a:gd name="adj" fmla="val 6154"/>
            </a:avLst>
          </a:prstGeom>
          <a:solidFill>
            <a:srgbClr val="151F3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2203704" y="3197051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37"/>
                </a:solidFill>
              </a:rPr>
              <a:t>🎲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33472" y="3206195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Jakub Zyga, Adam Wójciak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221992" y="3654251"/>
            <a:ext cx="7763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System „Absolutne Kasyno” wspiera rejestrację graczy, wymianę żetonów, obsługę gier, zgłoszenia serwisowe i raportowanie finansowe.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64190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ABSOLUTNE KASYNO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PresentationFormat>Widescreen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UWM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Absolutne Kasyno — prezentacja czytelna</dc:title>
  <dc:subject>Projekt PSI - Absolutne Kasyno</dc:subject>
  <dc:creator>Jakub Zyga, Adam Wójciak</dc:creator>
  <cp:lastModifiedBy>Jakub Zyga</cp:lastModifiedBy>
  <cp:revision>3</cp:revision>
  <dcterms:created xsi:type="dcterms:W3CDTF">2026-06-02T13:53:28Z</dcterms:created>
  <dcterms:modified xsi:type="dcterms:W3CDTF">2026-06-02T20:06:38Z</dcterms:modified>
</cp:coreProperties>
</file>